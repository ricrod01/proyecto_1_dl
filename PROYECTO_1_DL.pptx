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2AAB2-6032-5FA1-1E9A-850B63E7B255}" v="809" dt="2026-09-04T21:56:55.626"/>
    <p1510:client id="{E77019C4-C6A2-43BA-AD9C-F0389C35D734}" v="4" dt="2026-09-04T03:51:04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TELLANOS PAZ, IAN ARI" userId="S::cas22128@uvg.edu.gt::73cb254f-cffc-4041-93f7-68e04859f470" providerId="AD" clId="Web-{1AB2AAB2-6032-5FA1-1E9A-850B63E7B255}"/>
    <pc:docChg chg="modSld">
      <pc:chgData name="CASTELLANOS PAZ, IAN ARI" userId="S::cas22128@uvg.edu.gt::73cb254f-cffc-4041-93f7-68e04859f470" providerId="AD" clId="Web-{1AB2AAB2-6032-5FA1-1E9A-850B63E7B255}" dt="2026-09-04T21:56:55.173" v="404" actId="20577"/>
      <pc:docMkLst>
        <pc:docMk/>
      </pc:docMkLst>
      <pc:sldChg chg="addSp modSp">
        <pc:chgData name="CASTELLANOS PAZ, IAN ARI" userId="S::cas22128@uvg.edu.gt::73cb254f-cffc-4041-93f7-68e04859f470" providerId="AD" clId="Web-{1AB2AAB2-6032-5FA1-1E9A-850B63E7B255}" dt="2026-09-04T21:41:42" v="289" actId="14100"/>
        <pc:sldMkLst>
          <pc:docMk/>
          <pc:sldMk cId="625792885" sldId="258"/>
        </pc:sldMkLst>
        <pc:spChg chg="mod">
          <ac:chgData name="CASTELLANOS PAZ, IAN ARI" userId="S::cas22128@uvg.edu.gt::73cb254f-cffc-4041-93f7-68e04859f470" providerId="AD" clId="Web-{1AB2AAB2-6032-5FA1-1E9A-850B63E7B255}" dt="2026-09-04T21:41:39.937" v="288" actId="20577"/>
          <ac:spMkLst>
            <pc:docMk/>
            <pc:sldMk cId="625792885" sldId="258"/>
            <ac:spMk id="11" creationId="{E1764FD5-ECD3-6927-02AD-AE8FFD25BCC8}"/>
          </ac:spMkLst>
        </pc:spChg>
        <pc:picChg chg="add mod">
          <ac:chgData name="CASTELLANOS PAZ, IAN ARI" userId="S::cas22128@uvg.edu.gt::73cb254f-cffc-4041-93f7-68e04859f470" providerId="AD" clId="Web-{1AB2AAB2-6032-5FA1-1E9A-850B63E7B255}" dt="2026-09-04T21:41:42" v="289" actId="14100"/>
          <ac:picMkLst>
            <pc:docMk/>
            <pc:sldMk cId="625792885" sldId="258"/>
            <ac:picMk id="3" creationId="{7EBCB51C-E32B-D88C-2FB1-874126FC6972}"/>
          </ac:picMkLst>
        </pc:picChg>
      </pc:sldChg>
      <pc:sldChg chg="addSp modSp">
        <pc:chgData name="CASTELLANOS PAZ, IAN ARI" userId="S::cas22128@uvg.edu.gt::73cb254f-cffc-4041-93f7-68e04859f470" providerId="AD" clId="Web-{1AB2AAB2-6032-5FA1-1E9A-850B63E7B255}" dt="2026-09-04T21:50:19.284" v="319" actId="20577"/>
        <pc:sldMkLst>
          <pc:docMk/>
          <pc:sldMk cId="2026264342" sldId="260"/>
        </pc:sldMkLst>
        <pc:spChg chg="mod">
          <ac:chgData name="CASTELLANOS PAZ, IAN ARI" userId="S::cas22128@uvg.edu.gt::73cb254f-cffc-4041-93f7-68e04859f470" providerId="AD" clId="Web-{1AB2AAB2-6032-5FA1-1E9A-850B63E7B255}" dt="2026-09-04T21:50:19.284" v="319" actId="20577"/>
          <ac:spMkLst>
            <pc:docMk/>
            <pc:sldMk cId="2026264342" sldId="260"/>
            <ac:spMk id="14" creationId="{5FF48B0E-2C30-2A62-AEAD-48E54766AE2A}"/>
          </ac:spMkLst>
        </pc:spChg>
        <pc:picChg chg="add mod">
          <ac:chgData name="CASTELLANOS PAZ, IAN ARI" userId="S::cas22128@uvg.edu.gt::73cb254f-cffc-4041-93f7-68e04859f470" providerId="AD" clId="Web-{1AB2AAB2-6032-5FA1-1E9A-850B63E7B255}" dt="2026-09-04T21:42:34.080" v="292" actId="1076"/>
          <ac:picMkLst>
            <pc:docMk/>
            <pc:sldMk cId="2026264342" sldId="260"/>
            <ac:picMk id="3" creationId="{3D560362-27DD-F103-EC99-7A8855E5EE91}"/>
          </ac:picMkLst>
        </pc:picChg>
      </pc:sldChg>
      <pc:sldChg chg="addSp delSp modSp">
        <pc:chgData name="CASTELLANOS PAZ, IAN ARI" userId="S::cas22128@uvg.edu.gt::73cb254f-cffc-4041-93f7-68e04859f470" providerId="AD" clId="Web-{1AB2AAB2-6032-5FA1-1E9A-850B63E7B255}" dt="2026-09-04T21:56:55.173" v="404" actId="20577"/>
        <pc:sldMkLst>
          <pc:docMk/>
          <pc:sldMk cId="3914749657" sldId="261"/>
        </pc:sldMkLst>
        <pc:spChg chg="add del">
          <ac:chgData name="CASTELLANOS PAZ, IAN ARI" userId="S::cas22128@uvg.edu.gt::73cb254f-cffc-4041-93f7-68e04859f470" providerId="AD" clId="Web-{1AB2AAB2-6032-5FA1-1E9A-850B63E7B255}" dt="2026-09-04T21:55:15.279" v="330"/>
          <ac:spMkLst>
            <pc:docMk/>
            <pc:sldMk cId="3914749657" sldId="261"/>
            <ac:spMk id="6" creationId="{6A44DA18-5364-1361-76FD-CB3E2E6AF472}"/>
          </ac:spMkLst>
        </pc:spChg>
        <pc:spChg chg="add mod">
          <ac:chgData name="CASTELLANOS PAZ, IAN ARI" userId="S::cas22128@uvg.edu.gt::73cb254f-cffc-4041-93f7-68e04859f470" providerId="AD" clId="Web-{1AB2AAB2-6032-5FA1-1E9A-850B63E7B255}" dt="2026-09-04T21:56:11.953" v="380" actId="20577"/>
          <ac:spMkLst>
            <pc:docMk/>
            <pc:sldMk cId="3914749657" sldId="261"/>
            <ac:spMk id="7" creationId="{10BA2D70-99F7-34AE-17D8-EF12F8016AD4}"/>
          </ac:spMkLst>
        </pc:spChg>
        <pc:spChg chg="add mod">
          <ac:chgData name="CASTELLANOS PAZ, IAN ARI" userId="S::cas22128@uvg.edu.gt::73cb254f-cffc-4041-93f7-68e04859f470" providerId="AD" clId="Web-{1AB2AAB2-6032-5FA1-1E9A-850B63E7B255}" dt="2026-09-04T21:56:55.173" v="404" actId="20577"/>
          <ac:spMkLst>
            <pc:docMk/>
            <pc:sldMk cId="3914749657" sldId="261"/>
            <ac:spMk id="8" creationId="{3CBC6399-A367-EDFA-D428-91E9BE3C1B91}"/>
          </ac:spMkLst>
        </pc:spChg>
        <pc:picChg chg="add del mod">
          <ac:chgData name="CASTELLANOS PAZ, IAN ARI" userId="S::cas22128@uvg.edu.gt::73cb254f-cffc-4041-93f7-68e04859f470" providerId="AD" clId="Web-{1AB2AAB2-6032-5FA1-1E9A-850B63E7B255}" dt="2026-09-04T21:52:03.725" v="322"/>
          <ac:picMkLst>
            <pc:docMk/>
            <pc:sldMk cId="3914749657" sldId="261"/>
            <ac:picMk id="3" creationId="{EEB5F619-39EB-0E23-CB6E-7A411F3A67FB}"/>
          </ac:picMkLst>
        </pc:picChg>
        <pc:picChg chg="add mod">
          <ac:chgData name="CASTELLANOS PAZ, IAN ARI" userId="S::cas22128@uvg.edu.gt::73cb254f-cffc-4041-93f7-68e04859f470" providerId="AD" clId="Web-{1AB2AAB2-6032-5FA1-1E9A-850B63E7B255}" dt="2026-09-04T21:54:45.137" v="327" actId="1076"/>
          <ac:picMkLst>
            <pc:docMk/>
            <pc:sldMk cId="3914749657" sldId="261"/>
            <ac:picMk id="4" creationId="{E0BE4B2E-7F98-96BC-44AC-3B167CC00059}"/>
          </ac:picMkLst>
        </pc:picChg>
        <pc:picChg chg="add mod">
          <ac:chgData name="CASTELLANOS PAZ, IAN ARI" userId="S::cas22128@uvg.edu.gt::73cb254f-cffc-4041-93f7-68e04859f470" providerId="AD" clId="Web-{1AB2AAB2-6032-5FA1-1E9A-850B63E7B255}" dt="2026-09-04T21:54:47.606" v="328" actId="1076"/>
          <ac:picMkLst>
            <pc:docMk/>
            <pc:sldMk cId="3914749657" sldId="261"/>
            <ac:picMk id="5" creationId="{5BE65A3F-9662-92E2-5F7A-16C0FE52BE17}"/>
          </ac:picMkLst>
        </pc:picChg>
      </pc:sldChg>
    </pc:docChg>
  </pc:docChgLst>
  <pc:docChgLst>
    <pc:chgData name="RODRIGUEZ RODRIGUEZ, JOSE RICARDO" userId="97a99327-06f0-4917-8405-23af67fc42ad" providerId="ADAL" clId="{9AC79DD2-F6F8-4881-8033-D8210903CF30}"/>
    <pc:docChg chg="addSld modSld">
      <pc:chgData name="RODRIGUEZ RODRIGUEZ, JOSE RICARDO" userId="97a99327-06f0-4917-8405-23af67fc42ad" providerId="ADAL" clId="{9AC79DD2-F6F8-4881-8033-D8210903CF30}" dt="2026-09-04T03:51:04.916" v="3"/>
      <pc:docMkLst>
        <pc:docMk/>
      </pc:docMkLst>
      <pc:sldChg chg="add">
        <pc:chgData name="RODRIGUEZ RODRIGUEZ, JOSE RICARDO" userId="97a99327-06f0-4917-8405-23af67fc42ad" providerId="ADAL" clId="{9AC79DD2-F6F8-4881-8033-D8210903CF30}" dt="2026-09-04T03:36:02.544" v="0"/>
        <pc:sldMkLst>
          <pc:docMk/>
          <pc:sldMk cId="3914749657" sldId="261"/>
        </pc:sldMkLst>
      </pc:sldChg>
      <pc:sldChg chg="addSp modSp add">
        <pc:chgData name="RODRIGUEZ RODRIGUEZ, JOSE RICARDO" userId="97a99327-06f0-4917-8405-23af67fc42ad" providerId="ADAL" clId="{9AC79DD2-F6F8-4881-8033-D8210903CF30}" dt="2026-09-04T03:38:43.922" v="2" actId="767"/>
        <pc:sldMkLst>
          <pc:docMk/>
          <pc:sldMk cId="3627894796" sldId="262"/>
        </pc:sldMkLst>
        <pc:spChg chg="add mod">
          <ac:chgData name="RODRIGUEZ RODRIGUEZ, JOSE RICARDO" userId="97a99327-06f0-4917-8405-23af67fc42ad" providerId="ADAL" clId="{9AC79DD2-F6F8-4881-8033-D8210903CF30}" dt="2026-09-04T03:38:43.922" v="2" actId="767"/>
          <ac:spMkLst>
            <pc:docMk/>
            <pc:sldMk cId="3627894796" sldId="262"/>
            <ac:spMk id="7" creationId="{C8F424BA-879E-1BEB-C10E-87BE5EED67D6}"/>
          </ac:spMkLst>
        </pc:spChg>
      </pc:sldChg>
      <pc:sldChg chg="modSp">
        <pc:chgData name="RODRIGUEZ RODRIGUEZ, JOSE RICARDO" userId="97a99327-06f0-4917-8405-23af67fc42ad" providerId="ADAL" clId="{9AC79DD2-F6F8-4881-8033-D8210903CF30}" dt="2026-09-04T03:51:04.916" v="3"/>
        <pc:sldMkLst>
          <pc:docMk/>
          <pc:sldMk cId="10167330" sldId="263"/>
        </pc:sldMkLst>
        <pc:spChg chg="mod">
          <ac:chgData name="RODRIGUEZ RODRIGUEZ, JOSE RICARDO" userId="97a99327-06f0-4917-8405-23af67fc42ad" providerId="ADAL" clId="{9AC79DD2-F6F8-4881-8033-D8210903CF30}" dt="2026-09-04T03:51:04.916" v="3"/>
          <ac:spMkLst>
            <pc:docMk/>
            <pc:sldMk cId="10167330" sldId="263"/>
            <ac:spMk id="3" creationId="{24BEA5BB-E485-6254-5AB9-484A23D2A7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0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0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81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9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5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9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9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8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2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9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72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72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89" r:id="rId7"/>
    <p:sldLayoutId id="2147483688" r:id="rId8"/>
    <p:sldLayoutId id="2147483687" r:id="rId9"/>
    <p:sldLayoutId id="2147483686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AC8D7B4A-2DDA-345C-BBF9-DBD0A928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6" b="104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0ED242-54AC-5402-FAC4-FA332579C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s-GT">
                <a:solidFill>
                  <a:srgbClr val="FFFFFF"/>
                </a:solidFill>
              </a:rPr>
              <a:t>Predicción de anomalías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D5DE72-FAF8-D84C-F8D9-D8474E4E6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4978403"/>
            <a:ext cx="4941173" cy="1087572"/>
          </a:xfrm>
        </p:spPr>
        <p:txBody>
          <a:bodyPr anchor="t">
            <a:normAutofit/>
          </a:bodyPr>
          <a:lstStyle/>
          <a:p>
            <a:pPr algn="r"/>
            <a:r>
              <a:rPr lang="es-GT">
                <a:solidFill>
                  <a:srgbClr val="FFFFFF"/>
                </a:solidFill>
              </a:rPr>
              <a:t>Ian Castellanos</a:t>
            </a:r>
          </a:p>
          <a:p>
            <a:pPr algn="r"/>
            <a:r>
              <a:rPr lang="es-GT">
                <a:solidFill>
                  <a:srgbClr val="FFFFFF"/>
                </a:solidFill>
              </a:rPr>
              <a:t>Ricardo Rodríguez</a:t>
            </a:r>
          </a:p>
        </p:txBody>
      </p:sp>
      <p:cxnSp>
        <p:nvCxnSpPr>
          <p:cNvPr id="26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7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2255E-A74D-B89A-E0A8-D720525AB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400" y="416561"/>
            <a:ext cx="9621520" cy="1402080"/>
          </a:xfrm>
        </p:spPr>
        <p:txBody>
          <a:bodyPr/>
          <a:lstStyle/>
          <a:p>
            <a:pPr algn="ctr"/>
            <a:r>
              <a:rPr lang="es-GT"/>
              <a:t>Generador de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8D7008-6932-0617-FBB5-DDAD5E294A2E}"/>
              </a:ext>
            </a:extLst>
          </p:cNvPr>
          <p:cNvSpPr txBox="1"/>
          <p:nvPr/>
        </p:nvSpPr>
        <p:spPr>
          <a:xfrm>
            <a:off x="885613" y="2008109"/>
            <a:ext cx="110947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2400"/>
              <a:t>3 Tipos de anomalías: Orden no congruente, transacción corta y establecimientos extraños.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2400"/>
              <a:t>30 transacciones.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2400"/>
              <a:t>Montos, fecha-hora, tipo de establecimiento y proporción histórica de tipo de establecimiento.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2400"/>
              <a:t>Proporción anomalías aproximadamente 10%.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GT" sz="2400"/>
              <a:t>Variables agregadas: promedio, desviación estándar, máximo y mínimo de los montos, monto por hora, moda de tipo de establecimiento y la cantidad de establecimientos.</a:t>
            </a:r>
          </a:p>
        </p:txBody>
      </p:sp>
    </p:spTree>
    <p:extLst>
      <p:ext uri="{BB962C8B-B14F-4D97-AF65-F5344CB8AC3E}">
        <p14:creationId xmlns:p14="http://schemas.microsoft.com/office/powerpoint/2010/main" val="273291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C5889-53DB-EED2-8855-3E808205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2" y="364067"/>
            <a:ext cx="10890929" cy="1097280"/>
          </a:xfrm>
        </p:spPr>
        <p:txBody>
          <a:bodyPr/>
          <a:lstStyle/>
          <a:p>
            <a:pPr algn="ctr"/>
            <a:r>
              <a:rPr lang="es-GT"/>
              <a:t>Modelos iniciales y preprocesamiento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11337D-75B2-2EDC-C529-53D88304D6F6}"/>
              </a:ext>
            </a:extLst>
          </p:cNvPr>
          <p:cNvSpPr txBox="1"/>
          <p:nvPr/>
        </p:nvSpPr>
        <p:spPr>
          <a:xfrm>
            <a:off x="626533" y="1322937"/>
            <a:ext cx="5156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/>
              <a:t>Modelo A: 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Variables agregadas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Tratamiento variables categóricas.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Rejilla de </a:t>
            </a:r>
            <a:r>
              <a:rPr lang="es-GT" err="1"/>
              <a:t>hiperparámetros</a:t>
            </a:r>
            <a:r>
              <a:rPr lang="es-GT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Validación cruzada.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Peso de clases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985D9EB-9007-5FB7-A89A-2392ECCB1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3429000"/>
            <a:ext cx="3177815" cy="320067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1764FD5-ECD3-6927-02AD-AE8FFD25BCC8}"/>
              </a:ext>
            </a:extLst>
          </p:cNvPr>
          <p:cNvSpPr txBox="1"/>
          <p:nvPr/>
        </p:nvSpPr>
        <p:spPr>
          <a:xfrm>
            <a:off x="6409269" y="1263670"/>
            <a:ext cx="5219151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GT" sz="2400" b="1" dirty="0"/>
              <a:t>Modelo B: LSTM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Montos.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Escala 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Estandarización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Peso de clases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89284B-0BCA-D604-F1FC-3EC5098A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825" y="3110329"/>
            <a:ext cx="3276884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9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6351-BD31-C287-2158-66116BBB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B011C-AEF9-B995-ABC5-5E0DDCE0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2" y="364067"/>
            <a:ext cx="10890929" cy="1097280"/>
          </a:xfrm>
        </p:spPr>
        <p:txBody>
          <a:bodyPr/>
          <a:lstStyle/>
          <a:p>
            <a:pPr algn="ctr"/>
            <a:r>
              <a:rPr lang="es-GT"/>
              <a:t>Modelos apuesta (C)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E42C2C-746D-CF60-7C39-E21096E7B0D6}"/>
              </a:ext>
            </a:extLst>
          </p:cNvPr>
          <p:cNvSpPr txBox="1"/>
          <p:nvPr/>
        </p:nvSpPr>
        <p:spPr>
          <a:xfrm>
            <a:off x="427821" y="1128205"/>
            <a:ext cx="372702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/>
              <a:t>CNN-1D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Diferencia en minutos de las transacciones.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Escala 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Estandarización.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Red con 2 capas ocultas.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16C0A7-980F-184D-DE1A-14B56F8C003F}"/>
              </a:ext>
            </a:extLst>
          </p:cNvPr>
          <p:cNvSpPr txBox="1"/>
          <p:nvPr/>
        </p:nvSpPr>
        <p:spPr>
          <a:xfrm>
            <a:off x="4246287" y="1128204"/>
            <a:ext cx="372702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 dirty="0"/>
              <a:t>LSTM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Montos.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Escala 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Estandarización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Categóricas.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dirty="0"/>
              <a:t>Red con 2 capas ocultas.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7A4FEC2-F341-D582-7B38-F5F49BA3FBDD}"/>
              </a:ext>
            </a:extLst>
          </p:cNvPr>
          <p:cNvSpPr txBox="1"/>
          <p:nvPr/>
        </p:nvSpPr>
        <p:spPr>
          <a:xfrm>
            <a:off x="8126305" y="1111935"/>
            <a:ext cx="372702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/>
              <a:t>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Tipos de establecimiento.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Histórico de tipos de establecimiento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Proporciones de tipos de establecimiento.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Diferencias absolutas entre proporciones e histórico.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Rejilla de </a:t>
            </a:r>
            <a:r>
              <a:rPr lang="es-GT" err="1"/>
              <a:t>hiperparámetros</a:t>
            </a:r>
            <a:r>
              <a:rPr lang="es-GT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Validación cruzada.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/>
              <a:t>Peso de clases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344C57-98ED-110C-1734-926D7DBD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848" y="3535118"/>
            <a:ext cx="3170195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5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983C-D97B-1EC3-938B-A9A5A4AE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BF91C-68A2-B27F-FF0F-16E96E64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2" y="364067"/>
            <a:ext cx="10890929" cy="747868"/>
          </a:xfrm>
        </p:spPr>
        <p:txBody>
          <a:bodyPr/>
          <a:lstStyle/>
          <a:p>
            <a:pPr algn="ctr"/>
            <a:r>
              <a:rPr lang="es-GT"/>
              <a:t>Análisis de umbral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B82BBD-D217-DE4E-AB8E-0A0842FA77CF}"/>
              </a:ext>
            </a:extLst>
          </p:cNvPr>
          <p:cNvSpPr txBox="1"/>
          <p:nvPr/>
        </p:nvSpPr>
        <p:spPr>
          <a:xfrm>
            <a:off x="368556" y="1111935"/>
            <a:ext cx="361924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/>
              <a:t>Modelo 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Umbral óptimo: 0.4440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Costo por transacción (en entrenamiento): Q 4.09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Costo por transacción (en prueba): Q 312.79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336F9B6-2283-879F-E1BF-A82E59D5D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6" y="3156084"/>
            <a:ext cx="3139712" cy="333784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FF48B0E-2C30-2A62-AEAD-48E54766AE2A}"/>
              </a:ext>
            </a:extLst>
          </p:cNvPr>
          <p:cNvSpPr txBox="1"/>
          <p:nvPr/>
        </p:nvSpPr>
        <p:spPr>
          <a:xfrm>
            <a:off x="4224826" y="1135352"/>
            <a:ext cx="3619244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GT" sz="2400" b="1" dirty="0"/>
              <a:t>Modelo B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dirty="0"/>
              <a:t>Umbral óptimo: 0.2937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dirty="0"/>
              <a:t>Costo por transacción (en entrenamiento): Q 161.68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dirty="0"/>
              <a:t>Costo por transacción (en prueba): Q 161.65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42AAEFF-6182-75B2-255B-0959BB1D0D4D}"/>
              </a:ext>
            </a:extLst>
          </p:cNvPr>
          <p:cNvSpPr txBox="1"/>
          <p:nvPr/>
        </p:nvSpPr>
        <p:spPr>
          <a:xfrm>
            <a:off x="8204202" y="1111934"/>
            <a:ext cx="361924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400" b="1"/>
              <a:t>Modelo 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Umbral óptimo: 0.4789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Costo por transacción (en entrenamiento): Q 13.87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/>
              <a:t>Costo por transacción (en prueba): Q 33.14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B906F10-E359-E577-7AA4-7C1A6488F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383" y="3156084"/>
            <a:ext cx="3329958" cy="33378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F17F643-E568-AA2F-78AD-FD65B93C4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987" y="3156084"/>
            <a:ext cx="3200677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6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5878-EDD0-3F8D-CAB6-9BBB9C90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A379A-7F15-3CCF-0889-D9134C4D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2" y="364067"/>
            <a:ext cx="10890929" cy="1097280"/>
          </a:xfrm>
        </p:spPr>
        <p:txBody>
          <a:bodyPr>
            <a:normAutofit fontScale="90000"/>
          </a:bodyPr>
          <a:lstStyle/>
          <a:p>
            <a:pPr algn="ctr"/>
            <a:r>
              <a:rPr lang="es-GT"/>
              <a:t>Pruebas a los modelos</a:t>
            </a:r>
            <a:br>
              <a:rPr lang="es-GT"/>
            </a:br>
            <a:r>
              <a:rPr lang="es-GT"/>
              <a:t>(Prueba 1)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95D917-8E51-911B-E15A-E29C93105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069" y="2372739"/>
            <a:ext cx="9185561" cy="2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4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9AA0-73A1-101E-EFAB-520C1EA7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88782-DF28-54C2-A532-3A721FAC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2" y="364067"/>
            <a:ext cx="10890929" cy="1097280"/>
          </a:xfrm>
        </p:spPr>
        <p:txBody>
          <a:bodyPr>
            <a:normAutofit fontScale="90000"/>
          </a:bodyPr>
          <a:lstStyle/>
          <a:p>
            <a:pPr algn="ctr"/>
            <a:r>
              <a:rPr lang="es-GT"/>
              <a:t>Pruebas a los modelos</a:t>
            </a:r>
            <a:br>
              <a:rPr lang="es-GT"/>
            </a:br>
            <a:r>
              <a:rPr lang="es-GT"/>
              <a:t>(Prueba 2)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F1C0A8-94F4-EF48-B5E0-1F3ACB8F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0" y="2820589"/>
            <a:ext cx="5883150" cy="18670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F006C0-48B1-11C5-ABBC-7E6BB1E5D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13" y="2820589"/>
            <a:ext cx="5730737" cy="2385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F424BA-879E-1BEB-C10E-87BE5EED67D6}"/>
              </a:ext>
            </a:extLst>
          </p:cNvPr>
          <p:cNvSpPr txBox="1"/>
          <p:nvPr/>
        </p:nvSpPr>
        <p:spPr>
          <a:xfrm>
            <a:off x="724744" y="2350346"/>
            <a:ext cx="499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b="1"/>
              <a:t>CAPACIDAD PREDICTIVA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14D628-99E4-89D7-9CEB-66984DE0E447}"/>
              </a:ext>
            </a:extLst>
          </p:cNvPr>
          <p:cNvSpPr txBox="1"/>
          <p:nvPr/>
        </p:nvSpPr>
        <p:spPr>
          <a:xfrm>
            <a:off x="6710085" y="2343068"/>
            <a:ext cx="499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b="1"/>
              <a:t>PROMEDIO DE ETIQUETAS</a:t>
            </a:r>
          </a:p>
        </p:txBody>
      </p:sp>
    </p:spTree>
    <p:extLst>
      <p:ext uri="{BB962C8B-B14F-4D97-AF65-F5344CB8AC3E}">
        <p14:creationId xmlns:p14="http://schemas.microsoft.com/office/powerpoint/2010/main" val="362789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479A2-7956-2BAE-91B7-2D2D82E8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46" y="414868"/>
            <a:ext cx="10890929" cy="719666"/>
          </a:xfrm>
        </p:spPr>
        <p:txBody>
          <a:bodyPr/>
          <a:lstStyle/>
          <a:p>
            <a:pPr algn="ctr"/>
            <a:r>
              <a:rPr lang="es-GT"/>
              <a:t>Conclusiones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BEA5BB-E485-6254-5AB9-484A23D2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1600"/>
            <a:ext cx="10890928" cy="4828032"/>
          </a:xfrm>
        </p:spPr>
        <p:txBody>
          <a:bodyPr>
            <a:normAutofit lnSpcReduction="10000"/>
          </a:bodyPr>
          <a:lstStyle/>
          <a:p>
            <a:pPr algn="just"/>
            <a:r>
              <a:rPr lang="es-GT" dirty="0"/>
              <a:t>El modelo A tuvo el menor costo en el ajuste de umbral, pero esto fue debido a un sobreajuste en el modelo, ya que en el conjunto de prueba fue el más alto en costo por transacción.</a:t>
            </a:r>
          </a:p>
          <a:p>
            <a:pPr algn="just"/>
            <a:r>
              <a:rPr lang="es-GT" dirty="0"/>
              <a:t>El modelo B tuvo el mayor costo en el ajuste de umbral y al aplicarlo al conjunto de prueba se tuvo un costo de Q 161.65 por transacción, el cual fue el segundo menor de todos.</a:t>
            </a:r>
          </a:p>
          <a:p>
            <a:pPr algn="just"/>
            <a:r>
              <a:rPr lang="es-GT" dirty="0"/>
              <a:t>El modelo C tuvo el segundo menor costo en el ajuste de umbral y al aplicarlo al conjunto de prueba se tuvo un costo de Q 33.14 por transacción, el cual fue el menor de todos con diferencia.</a:t>
            </a:r>
          </a:p>
          <a:p>
            <a:pPr algn="just"/>
            <a:r>
              <a:rPr lang="es-GT" dirty="0"/>
              <a:t>El cambio del orden en los montos afectó la capacidad predictiva del modelo B, disminuyendo todas sus métricas a excepción del </a:t>
            </a:r>
            <a:r>
              <a:rPr lang="es-GT" dirty="0" err="1"/>
              <a:t>recall</a:t>
            </a:r>
            <a:r>
              <a:rPr lang="es-GT" dirty="0"/>
              <a:t> que aumentó.</a:t>
            </a:r>
          </a:p>
          <a:p>
            <a:pPr algn="just"/>
            <a:r>
              <a:rPr lang="es-GT" dirty="0"/>
              <a:t>Se concluye que es más eficiente entrenar distintos submodelos enfocados a reconocer un tipo de anomalía específica.</a:t>
            </a:r>
          </a:p>
          <a:p>
            <a:pPr algn="just"/>
            <a:r>
              <a:rPr lang="es-GT" dirty="0"/>
              <a:t>Se recomienda hacer uso del modelo C para la predicción de anomalías y no anomalías..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016733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51B0C6FFA1E149966AEE64FDC21B51" ma:contentTypeVersion="11" ma:contentTypeDescription="Crear nuevo documento." ma:contentTypeScope="" ma:versionID="ed04d8bdccf6a2f2e051d6f837d37d3b">
  <xsd:schema xmlns:xsd="http://www.w3.org/2001/XMLSchema" xmlns:xs="http://www.w3.org/2001/XMLSchema" xmlns:p="http://schemas.microsoft.com/office/2006/metadata/properties" xmlns:ns3="2cdfe042-c098-4603-bc06-628e1b8e05dc" xmlns:ns4="8b03448e-056a-4156-a5d2-6a507b68341b" targetNamespace="http://schemas.microsoft.com/office/2006/metadata/properties" ma:root="true" ma:fieldsID="9a5833e47bc90f4ce1c05bed465c02bb" ns3:_="" ns4:_="">
    <xsd:import namespace="2cdfe042-c098-4603-bc06-628e1b8e05dc"/>
    <xsd:import namespace="8b03448e-056a-4156-a5d2-6a507b6834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fe042-c098-4603-bc06-628e1b8e05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03448e-056a-4156-a5d2-6a507b6834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dfe042-c098-4603-bc06-628e1b8e05d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231337-750F-4DC2-B4F5-4526D7D31AC6}">
  <ds:schemaRefs>
    <ds:schemaRef ds:uri="2cdfe042-c098-4603-bc06-628e1b8e05dc"/>
    <ds:schemaRef ds:uri="8b03448e-056a-4156-a5d2-6a507b6834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8BFD24-184A-4896-B1A4-7F9963937BA6}">
  <ds:schemaRefs>
    <ds:schemaRef ds:uri="2cdfe042-c098-4603-bc06-628e1b8e05dc"/>
    <ds:schemaRef ds:uri="8b03448e-056a-4156-a5d2-6a507b6834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959DD3-88F6-4F0B-A0B8-162A4878BD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468</Words>
  <Application>Microsoft Office PowerPoint</Application>
  <PresentationFormat>Panorámica</PresentationFormat>
  <Paragraphs>65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Predicción de anomalías</vt:lpstr>
      <vt:lpstr>Generador de datos</vt:lpstr>
      <vt:lpstr>Modelos iniciales y preprocesamiento</vt:lpstr>
      <vt:lpstr>Modelos apuesta (C)</vt:lpstr>
      <vt:lpstr>Análisis de umbral</vt:lpstr>
      <vt:lpstr>Pruebas a los modelos (Prueba 1)</vt:lpstr>
      <vt:lpstr>Pruebas a los modelos (Prueba 2)</vt:lpstr>
      <vt:lpstr>Conclusiones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RODRIGUEZ RODRIGUEZ, JOSE RICARDO</dc:creator>
  <cp:lastModifiedBy>RODRIGUEZ RODRIGUEZ, JOSE RICARDO</cp:lastModifiedBy>
  <cp:revision>2</cp:revision>
  <dcterms:created xsi:type="dcterms:W3CDTF">2026-09-04T02:25:41Z</dcterms:created>
  <dcterms:modified xsi:type="dcterms:W3CDTF">2026-09-04T22:19:48Z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0x0101009C51B0C6FFA1E149966AEE64FDC21B51</vt:lpwstr>
  </property>
</Properties>
</file>